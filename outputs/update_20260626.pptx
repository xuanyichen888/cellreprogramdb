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Recipes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Start
(Jun 23)</c:v>
                  </c:pt>
                  <c:pt idx="1">
                    <c:v>After merge
(Jun 24)</c:v>
                  </c:pt>
                  <c:pt idx="2">
                    <c:v>After QA
(Jun 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4650</c:v>
                </c:pt>
                <c:pt idx="1">
                  <c:v>4814</c:v>
                </c:pt>
                <c:pt idx="2">
                  <c:v>4814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8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4500"/>
        </c:scaling>
        <c:delete val="0"/>
        <c:axPos val="l"/>
        <c:majorGridlines>
          <c:spPr>
            <a:ln w="6350" cap="flat">
              <a:solidFill>
                <a:srgbClr val="E0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A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3A3A"/>
                </a:solidFill>
                <a:latin typeface="Arial"/>
              </a:rPr>
              <a:t>Species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Species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Human</c:v>
                </c:pt>
                <c:pt idx="1">
                  <c:v>Mouse</c:v>
                </c:pt>
                <c:pt idx="2">
                  <c:v>Dual/Other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2559</c:v>
                </c:pt>
                <c:pt idx="1">
                  <c:v>1992</c:v>
                </c:pt>
                <c:pt idx="2">
                  <c:v>263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A808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A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3A3A"/>
                </a:solidFill>
                <a:latin typeface="Arial"/>
              </a:rPr>
              <a:t>Confidence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Recipes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High</c:v>
                  </c:pt>
                  <c:pt idx="1">
                    <c:v>Medium</c:v>
                  </c:pt>
                  <c:pt idx="2">
                    <c:v>Low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3420</c:v>
                </c:pt>
                <c:pt idx="1">
                  <c:v>1057</c:v>
                </c:pt>
                <c:pt idx="2">
                  <c:v>337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80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80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Chinese: 大家好，我是陈璇艺。今天汇报 CellReprogramDB 项目的最新进展。
CellReprogramDB 是一个专注于细胞重编程文献的结构化数据库，我们从 PubMed 上系统抓取相关论文，用 LLM 提取实验方案，并经过人工校验，最终部署为一个开放的 Streamlit 数据库网站。
English: Hi everyone, I'm Xuanyi Chen. Today I'll walk through the latest updates to CellReprogramDB — a structured, open database of cell reprogramming recipes curated from PubMed literature using LLM extraction and human QA, deployed as an interactive Streamlit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Chinese: 我们的流程分四步：首先用结构化检索词从 PubMed 批量抓取文献；然后用 LLM——主要是 DeepSeek 和 Claude——从摘要和全文中提取实验 recipe，包括起始细胞、目标细胞、转录因子和小分子；第三步是人工 QA，分三层检查错误；最后部署为一个开放 Streamlit 网站，任何人都可以免费使用。
English: Our pipeline has four stages: systematic PubMed retrieval, LLM-based recipe extraction (source cell, target cell, reprogramming factors), a three-layer human QA workflow, and finally deployment as an open Streamlit web app anyone can access for free.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Chinese: 目前主库共收录 4814 条 recipe，覆盖约 4700 篇论文。去重后的独立 recipe 有 3351 条。因子填充率达到 85%，较项目初期大幅提升。本次 QA 工作主要在 6 月 23-25 日集中完成，从 174 条 review reference 中合并了新增条目，并系统性地清理了质量标签。
English: The database now has 4,814 recipe entries covering ~4,700 papers, with 3,351 unique recipes after deduplication. Factor fill rate is 85%. The bulk of this session's QA work — merging 174 review references and cleaning validation flags — was completed June 23-25.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Chinese: 经过本次 QA，needs_review 标记从 407 条降至 146 条，降幅达 64%。我们分三层处理：Layer A 是有明确修正动作的条目，直接执行；Layer B 用 Claude Haiku 从摘要提取因子，再人工逐条确认；Layer C 按备注分类后针对性修复。此外还合并了 174 条来自综述参考文献的新增条目，并通过跨 PMID 去重删除了 10 条重复。剩余 146 条主要需要 PMC 全文才能填补。
English: We reduced needs_review entries from 407 to 146 — a 64% improvement — through three QA layers: Layer A auto-executed flagged actions; Layer B used Claude Haiku extraction followed by human adjudication; Layer C classified by note content and applied targeted fixes. We also merged 174 review-reference entries and removed 10 cross-PMID duplicates. The remaining 146 require PMC full text to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Chinese: 在 Streamlit Cloud 上线过程中发现一个严重 bug：当用户筛选条件导致零结果时，页面直接报 KeyError 崩溃。根本原因是 Python 3.14 环境下 pandas 3.x 的 Copy-on-Write 机制改变了零行 DataFrame 的列访问行为；而我们之前为了兼容性加的 `pandas&lt;3.0.0` 上限反而让部署失败，因为 pandas 2.x 根本无法在 Python 3.14 上安装。最终解决方案是在零匹配时显示完信息后调用 `st.stop()`，同时放开 pandas 版本上限。修复后 app 工作正常。
English: A critical bug on Streamlit Cloud caused a KeyError crash whenever zero recipes matched the active filters. Root cause: Python 3.14 uses pandas 3.x where Copy-on-Write changes empty DataFrame behavior — and our previous pandas&lt;3.0.0 upper bound made deployment fail entirely since pandas 2.x can't install on Python 3.14. Fix: call st.stop() after displaying zero-result metrics, and remove the version upper bound. App is now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Chinese: 从数据分布看，人类和小鼠实验各占约一半，另有少量跨物种或其他物种研究。置信度方面，71% 的条目被标记为高置信度，说明 LLM 提取质量整体较好；中等和低置信度的条目主要留待后续人工核验或全文补充。
English: About 53% of recipes are human studies, 41% mouse, with the rest covering dual-species or other. 71% of entries carry high confidence scores, reflecting strong LLM extraction quality; medium and low confidence entries are prioritized for further manual review or full-text supplementation.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Chinese: 接下来重点有四个方向。第一，利用 PMC 开放获取全文，为剩余 135 条缺失因子的条目进行 LLM 补充提取，高置信度结果自动入库。第二，通过全文或人工查找补全 9 条来源细胞缺失的条目。第三，考虑扩展 schema，加入培养条件、因子类型细化等字段。第四，完成最终 QA 后，在 GitHub 和 Streamlit 上正式公开发布，并撰写数据描述论文。
English: Four priorities ahead: (1) PMC full-text extraction for 135 factor-missing entries with auto-application of high-confidence results; (2) resolve 9 entries with missing source_cell; (3) schema expansion — culture conditions, finer factor_type, co-factor annotations; (4) final QA pass and public release on GitHub and Streamlit with a data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114800" cy="4114800"/>
          </a:xfrm>
          <a:prstGeom prst="ellipse">
            <a:avLst/>
          </a:prstGeom>
          <a:solidFill>
            <a:srgbClr val="00A896">
              <a:alpha val="30000"/>
            </a:srgbClr>
          </a:solidFill>
          <a:ln w="127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474720"/>
            <a:ext cx="2560320" cy="256032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CellReprogramDB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进展汇报 · Progress Update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June 2026  |  Xuanyi Chen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What is CellReprogramDB?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972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PubMed Search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1762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8080"/>
                </a:solidFill>
              </a:rPr>
              <a:t>Systematic search for cell reprogramming literature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87752" y="10972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79192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LLM Extraction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79192" y="21762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8080"/>
                </a:solidFill>
              </a:rPr>
              <a:t>DeepSeek &amp; Claude extract recipes: source→target, factors, species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64024" y="10972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64024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55464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Human QA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55464" y="21762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8080"/>
                </a:solidFill>
              </a:rPr>
              <a:t>3-layer validation workflow to flag &amp; correct errors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40296" y="1097280"/>
            <a:ext cx="1920240" cy="22860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0296" y="1097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</a:rPr>
              <a:t>④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31736" y="1737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Open Web 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31736" y="2176272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8080"/>
                </a:solidFill>
              </a:rPr>
              <a:t>Interactive Streamlit DB — filter, explore, export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50008" y="2240280"/>
            <a:ext cx="25603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26280" y="2240280"/>
            <a:ext cx="25603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2240280"/>
            <a:ext cx="25603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8080"/>
                </a:solidFill>
              </a:rPr>
              <a:t>Data scope: iPSC reprogramming · Direct conversion · Differentiation · Transdifferentiation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Database Growth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170432"/>
            <a:ext cx="196596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4,814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919326"/>
            <a:ext cx="19659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8080"/>
                </a:solidFill>
              </a:rPr>
              <a:t>Total recipes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09728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06040" y="1170432"/>
            <a:ext cx="196596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</a:rPr>
              <a:t>3,351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06040" y="1919326"/>
            <a:ext cx="19659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8080"/>
                </a:solidFill>
              </a:rPr>
              <a:t>Unique recipes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8080"/>
                </a:solidFill>
              </a:rPr>
              <a:t>(no broad dup.)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816352"/>
            <a:ext cx="196596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</a:rPr>
              <a:t>~4,700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65760" y="3565246"/>
            <a:ext cx="19659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8080"/>
                </a:solidFill>
              </a:rPr>
              <a:t>Papers covered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274320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2816352"/>
            <a:ext cx="1965960" cy="7936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</a:rPr>
              <a:t>85%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606040" y="3565246"/>
            <a:ext cx="1965960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8080"/>
                </a:solidFill>
              </a:rPr>
              <a:t>Factors filled</a:t>
            </a:r>
            <a:endParaRPr lang="en-US" sz="11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0" y="1005840"/>
          <a:ext cx="4069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Quality Assurance: 64% Reduction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2194560" cy="1920240"/>
          </a:xfrm>
          <a:prstGeom prst="roundRect">
            <a:avLst>
              <a:gd name="adj" fmla="val 5714"/>
            </a:avLst>
          </a:prstGeom>
          <a:solidFill>
            <a:srgbClr val="FEF0F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05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0392B"/>
                </a:solidFill>
              </a:rPr>
              <a:t>407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8080"/>
                </a:solidFill>
              </a:rPr>
              <a:t>needs_review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8080"/>
                </a:solidFill>
              </a:rPr>
              <a:t>(start of session)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920240"/>
            <a:ext cx="548640" cy="0"/>
          </a:xfrm>
          <a:prstGeom prst="line">
            <a:avLst/>
          </a:prstGeom>
          <a:noFill/>
          <a:ln w="19050">
            <a:solidFill>
              <a:srgbClr val="5A8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7480" y="1783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8080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29000" y="1005840"/>
            <a:ext cx="2194560" cy="1920240"/>
          </a:xfrm>
          <a:prstGeom prst="roundRect">
            <a:avLst>
              <a:gd name="adj" fmla="val 5714"/>
            </a:avLst>
          </a:prstGeom>
          <a:solidFill>
            <a:srgbClr val="E8FAF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00584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96"/>
                </a:solidFill>
              </a:rPr>
              <a:t>146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42900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8080"/>
                </a:solidFill>
              </a:rPr>
              <a:t>needs_review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8080"/>
                </a:solidFill>
              </a:rPr>
              <a:t>(remaining)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914400"/>
          <a:ext cx="3063240" cy="2880360"/>
        </p:xfrm>
        <a:graphic>
          <a:graphicData uri="http://schemas.openxmlformats.org/drawingml/2006/table">
            <a:tbl>
              <a:tblPr/>
              <a:tblGrid>
                <a:gridCol w="1371600"/>
                <a:gridCol w="320040"/>
                <a:gridCol w="1371600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QA Layer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Layer A – auto-execute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22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Flagged action → applied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Layer B – LLM + human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39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Haiku extract → adjudicate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Layer C – notes-based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43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Classify → targeted fix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Review refs merged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174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Schema-aligned merge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Duplicate removal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3A3A"/>
                          </a:solidFill>
                        </a:rPr>
                        <a:t>Cross-PMID dedup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2004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146 remaining: </a:t>
            </a:r>
            <a:pPr indent="0" marL="0">
              <a:buNone/>
            </a:pPr>
            <a:r>
              <a:rPr lang="en-US" sz="1200" dirty="0">
                <a:solidFill>
                  <a:srgbClr val="5A8080"/>
                </a:solidFill>
              </a:rPr>
              <a:t>135 need full-text for factors · 9 need source_cell from full text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6576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Overnight: </a:t>
            </a:r>
            <a:pPr indent="0" marL="0">
              <a:buNone/>
            </a:pPr>
            <a:r>
              <a:rPr lang="en-US" sz="1200" dirty="0">
                <a:solidFill>
                  <a:srgbClr val="5A8080"/>
                </a:solidFill>
              </a:rPr>
              <a:t>Fetching PMC open-access full text for LLM extraction (in progress)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App Stability: Live on Streamlit Cloud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39319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43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392B"/>
                </a:solidFill>
              </a:rPr>
              <a:t>Bug Fixed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60020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3A"/>
                </a:solidFill>
              </a:rPr>
              <a:t>Issue: </a:t>
            </a:r>
            <a:pPr indent="0" marL="0">
              <a:buNone/>
            </a:pPr>
            <a:r>
              <a:rPr lang="en-US" sz="1100" dirty="0">
                <a:solidFill>
                  <a:srgbClr val="1A3A3A"/>
                </a:solidFill>
              </a:rPr>
              <a:t>Streamlit Cloud (Python 3.14 + pandas 3.x) threw KeyError when zero recipes matched a filter
</a:t>
            </a:r>
            <a:pPr indent="0" marL="0">
              <a:buNone/>
            </a:pPr>
            <a:r>
              <a:rPr lang="en-US" sz="1100" b="1" dirty="0">
                <a:solidFill>
                  <a:srgbClr val="1A3A3A"/>
                </a:solidFill>
              </a:rPr>
              <a:t>Root cause: </a:t>
            </a:r>
            <a:pPr indent="0" marL="0">
              <a:buNone/>
            </a:pPr>
            <a:r>
              <a:rPr lang="en-US" sz="1100" dirty="0">
                <a:solidFill>
                  <a:srgbClr val="1A3A3A"/>
                </a:solidFill>
              </a:rPr>
              <a:t>pandas 3.x Copy-on-Write makes 0-row DataFrames lose column access; upper-bound pin pandas&lt;3.0.0 made it WORSE (pandas 2.x doesn't install on Python 3.14)
</a:t>
            </a:r>
            <a:pPr indent="0" marL="0">
              <a:buNone/>
            </a:pPr>
            <a:r>
              <a:rPr lang="en-US" sz="1100" b="1" dirty="0">
                <a:solidFill>
                  <a:srgbClr val="1A3A3A"/>
                </a:solidFill>
              </a:rPr>
              <a:t>Fix: </a:t>
            </a:r>
            <a:pPr indent="0" marL="0">
              <a:buNone/>
            </a:pPr>
            <a:r>
              <a:rPr lang="en-US" sz="1100" dirty="0">
                <a:solidFill>
                  <a:srgbClr val="00A896"/>
                </a:solidFill>
              </a:rPr>
              <a:t>Add st.stop() after zero-match display; update requirements.txt to pandas&gt;=2.2.0 (no upper bound)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028090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143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Database at a Glance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6916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4,814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46320" y="20939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EBEB"/>
                </a:solidFill>
              </a:rPr>
              <a:t>total recipes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66560" y="16916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3,351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766560" y="20939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EBEB"/>
                </a:solidFill>
              </a:rPr>
              <a:t>unique recipes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606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3008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EBEB"/>
                </a:solidFill>
              </a:rPr>
              <a:t>human studies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26060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30083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EBEB"/>
                </a:solidFill>
              </a:rPr>
              <a:t>mouse studies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3520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71%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46320" y="39227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EBEB"/>
                </a:solidFill>
              </a:rPr>
              <a:t>high confidence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3520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85%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66560" y="392277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8EBEB"/>
                </a:solidFill>
              </a:rPr>
              <a:t>factors filled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Database Composition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572000" y="914400"/>
          <a:ext cx="42976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02C39A">
              <a:alpha val="22000"/>
            </a:srgbClr>
          </a:solidFill>
          <a:ln w="12700">
            <a:solidFill>
              <a:srgbClr val="02C39A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Next Steps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A3848"/>
          </a:solidFill>
          <a:ln/>
          <a:effectLst>
            <a:outerShdw sx="100000" sy="100000" kx="0" ky="0" algn="bl" rotWithShape="0" blurRad="88900" dist="25400" dir="27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PMC Full-Text Extraction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E0E0"/>
                </a:solidFill>
              </a:rPr>
              <a:t>Fetch open-access full text for 135 remaining factor-missing entries · Auto-apply high-confidence LLM results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A3848"/>
          </a:solidFill>
          <a:ln/>
          <a:effectLst>
            <a:outerShdw sx="100000" sy="100000" kx="0" ky="0" algn="bl" rotWithShape="0" blurRad="88900" dist="2540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9240" y="1280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Source Cell QA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7190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E0E0"/>
                </a:solidFill>
              </a:rPr>
              <a:t>Resolve 9 entries where source_cell is missing via PMC full text or manual search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A3848"/>
          </a:solidFill>
          <a:ln/>
          <a:effectLst>
            <a:outerShdw sx="100000" sy="100000" kx="0" ky="0" algn="bl" rotWithShape="0" blurRad="88900" dist="2540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Schema Expansion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5478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E0E0"/>
                </a:solidFill>
              </a:rPr>
              <a:t>Add culture_condition detail · Expand factor_type granularity · Capture co-factors vs. primary TFs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A3848"/>
          </a:solidFill>
          <a:ln/>
          <a:effectLst>
            <a:outerShdw sx="100000" sy="100000" kx="0" ky="0" algn="bl" rotWithShape="0" blurRad="88900" dist="25400" dir="27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3108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Public Release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5478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E0E0"/>
                </a:solidFill>
              </a:rPr>
              <a:t>Final QA pass · DOI-linked citations · Open GitHub + Streamlit App public announcement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CellReprogramDB Progress Update – June 2026</dc:title>
  <dc:subject>PptxGenJS Presentation</dc:subject>
  <dc:creator>PptxGenJS</dc:creator>
  <cp:lastModifiedBy>PptxGenJS</cp:lastModifiedBy>
  <cp:revision>1</cp:revision>
  <dcterms:created xsi:type="dcterms:W3CDTF">2026-06-25T08:39:17Z</dcterms:created>
  <dcterms:modified xsi:type="dcterms:W3CDTF">2026-06-25T08:39:17Z</dcterms:modified>
</cp:coreProperties>
</file>